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2" r:id="rId6"/>
    <p:sldId id="2583" r:id="rId7"/>
    <p:sldId id="2590" r:id="rId8"/>
    <p:sldId id="2591" r:id="rId9"/>
    <p:sldId id="2592" r:id="rId10"/>
    <p:sldId id="2593" r:id="rId11"/>
    <p:sldId id="2586" r:id="rId12"/>
    <p:sldId id="2584" r:id="rId1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25.02.2026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25.02.2026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25.02.2026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25.02.2026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flix.de/wirtschaft/inventurarten-7474" TargetMode="External"/><Relationship Id="rId2" Type="http://schemas.openxmlformats.org/officeDocument/2006/relationships/hyperlink" Target="https://www.diplomarbeiten-bbs.at/erstellung/erstellung-allgemeine-info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erbei-Gabo/DA-2526-Inventarisierung-von-QR-Codes/blob/main/Diplomarbeit/32-ausarbeitung-herbei.md#literaturverzeichnis" TargetMode="External"/><Relationship Id="rId5" Type="http://schemas.openxmlformats.org/officeDocument/2006/relationships/hyperlink" Target="https://globalcompact.at/sustainable-development-goals" TargetMode="External"/><Relationship Id="rId4" Type="http://schemas.openxmlformats.org/officeDocument/2006/relationships/hyperlink" Target="https://timly.com/qr-code-inventarisierung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895600" y="1928802"/>
            <a:ext cx="7629556" cy="2571768"/>
          </a:xfrm>
          <a:prstGeom prst="rect">
            <a:avLst/>
          </a:prstGeom>
        </p:spPr>
        <p:txBody>
          <a:bodyPr/>
          <a:lstStyle/>
          <a:p>
            <a:r>
              <a:rPr lang="de-AT" sz="3200" b="1">
                <a:solidFill>
                  <a:srgbClr val="9BBB59"/>
                </a:solidFill>
              </a:rPr>
              <a:t>Inventarisierung mit </a:t>
            </a:r>
            <a:r>
              <a:rPr lang="de-AT" sz="3200" b="1" dirty="0">
                <a:solidFill>
                  <a:srgbClr val="9BBB59"/>
                </a:solidFill>
              </a:rPr>
              <a:t>QR-Codes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4572008"/>
            <a:ext cx="6373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Karner André, Herbei Gabriel, Dietmair Stephan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14" y="4917056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fld id="{2CFB1ECA-D1C7-49A6-ADE8-A263B28B0548}" type="datetime1">
              <a:rPr lang="de-AT" smtClean="0"/>
              <a:t>25.02.2026</a:t>
            </a:fld>
            <a:endParaRPr lang="de-AT" dirty="0"/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322640"/>
            <a:ext cx="63738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Betreuer: </a:t>
            </a:r>
            <a:r>
              <a:rPr lang="de-DE" dirty="0"/>
              <a:t>Dipl.-Wirt.-Ing. (FH) Leitner Christoph, </a:t>
            </a:r>
            <a:r>
              <a:rPr lang="de-DE" dirty="0" err="1"/>
              <a:t>BEd</a:t>
            </a:r>
            <a:br>
              <a:rPr lang="de-DE" dirty="0"/>
            </a:br>
            <a:r>
              <a:rPr lang="de-DE" dirty="0"/>
              <a:t>Nebenbetreuer: DI (FH) Klaus Kepplinger, </a:t>
            </a:r>
            <a:r>
              <a:rPr lang="de-DE" dirty="0" err="1"/>
              <a:t>MSc</a:t>
            </a:r>
            <a:endParaRPr lang="de-AT" dirty="0"/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820557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Aufgabenstellung &amp; Aufteilung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Aktuell werden Objekte, Werkzeuge und IT‑Hardware permanent mittels einer Excel‑Liste inventarisiert – das ist sehr aufwendig und unpraktisch.</a:t>
            </a:r>
          </a:p>
          <a:p>
            <a:pPr lvl="1"/>
            <a:r>
              <a:rPr lang="de-DE" b="1" dirty="0"/>
              <a:t>Karner:</a:t>
            </a:r>
            <a:r>
              <a:rPr lang="de-DE" dirty="0"/>
              <a:t> Entwicklung der webbasierten Anwendung (Frontend und Backend) → technischer Schwerpunkt.</a:t>
            </a:r>
          </a:p>
          <a:p>
            <a:pPr lvl="1"/>
            <a:r>
              <a:rPr lang="de-DE" b="1" dirty="0"/>
              <a:t>Herbei:</a:t>
            </a:r>
            <a:r>
              <a:rPr lang="de-DE" dirty="0"/>
              <a:t> Recherchiert und evaluiert bestehende Lösungen; zusätzlich Testen sowie Unterstützung beim Frontend‑Design.</a:t>
            </a:r>
          </a:p>
          <a:p>
            <a:pPr lvl="1"/>
            <a:r>
              <a:rPr lang="de-DE" b="1" dirty="0"/>
              <a:t>Dietmair:</a:t>
            </a:r>
            <a:r>
              <a:rPr lang="de-DE" dirty="0"/>
              <a:t> Führt das Projektmanagement und unterstützt zudem bei Frontend‑Entscheidungen aufgrund von Analyseergebnissen.</a:t>
            </a:r>
            <a:endParaRPr lang="de-DE" dirty="0">
              <a:effectLst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030CB0E-E62D-4716-A823-85A7C51C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Aktueller Stand - Karner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Frontend &amp; Backend nahezu vollständig</a:t>
            </a:r>
          </a:p>
          <a:p>
            <a:r>
              <a:rPr lang="de-DE" sz="2400" dirty="0"/>
              <a:t>Datenimport der Excel Liste erfolgt</a:t>
            </a:r>
          </a:p>
          <a:p>
            <a:r>
              <a:rPr lang="de-DE" sz="2400" dirty="0"/>
              <a:t>Mehrere Gespräche mit HTL absolviert</a:t>
            </a:r>
          </a:p>
          <a:p>
            <a:r>
              <a:rPr lang="de-DE" sz="2400" dirty="0"/>
              <a:t>Live Demo am Schluss</a:t>
            </a:r>
          </a:p>
          <a:p>
            <a:endParaRPr lang="de-DE" sz="2400" dirty="0"/>
          </a:p>
          <a:p>
            <a:r>
              <a:rPr lang="de-DE" sz="2400" b="1" dirty="0"/>
              <a:t>Erkenntnisse</a:t>
            </a:r>
            <a:r>
              <a:rPr lang="de-DE" sz="2400" dirty="0"/>
              <a:t>: </a:t>
            </a:r>
          </a:p>
          <a:p>
            <a:pPr lvl="1"/>
            <a:r>
              <a:rPr lang="de-DE" sz="2000" dirty="0"/>
              <a:t>Zeit extrem unterschätzt, ca. 300h+ Arbeit</a:t>
            </a:r>
          </a:p>
          <a:p>
            <a:r>
              <a:rPr lang="de-AT" sz="2400" b="1" dirty="0"/>
              <a:t>Weiteres Vorgehen: </a:t>
            </a:r>
          </a:p>
          <a:p>
            <a:pPr lvl="1"/>
            <a:r>
              <a:rPr lang="de-DE" sz="2000" dirty="0"/>
              <a:t>Ein paar Features noch einbauen</a:t>
            </a:r>
          </a:p>
          <a:p>
            <a:pPr lvl="1"/>
            <a:r>
              <a:rPr lang="de-DE" sz="2000" dirty="0"/>
              <a:t>Code noch lesbarer machen</a:t>
            </a:r>
          </a:p>
          <a:p>
            <a:pPr lvl="1"/>
            <a:r>
              <a:rPr lang="de-DE" sz="2000" dirty="0"/>
              <a:t>Eventuell optisch noch anpassen, je nach Wunsch und Zeit</a:t>
            </a:r>
          </a:p>
          <a:p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8522-DB0D-E976-A9DD-9D4E7B96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B5DE3-29A1-4FF5-2A24-279CCAE0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Aktueller Stand - Herbei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32C5D0-C369-1BD0-8EB9-DDA97CDA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9A0FCA-746E-3A90-4652-AABF6CF6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Theorieteil erweitert und formatiert</a:t>
            </a:r>
          </a:p>
          <a:p>
            <a:r>
              <a:rPr lang="de-DE" sz="2400" dirty="0"/>
              <a:t>QR-Codes mit Barcode und NFC verglichen</a:t>
            </a:r>
          </a:p>
          <a:p>
            <a:r>
              <a:rPr lang="de-DE" sz="2400" dirty="0"/>
              <a:t>Entschluss vom Frontend Design</a:t>
            </a:r>
          </a:p>
          <a:p>
            <a:r>
              <a:rPr lang="de-DE" sz="2400" dirty="0"/>
              <a:t>Lösung zum Drucken von QR-Codes gefunden (siehe Live Demo)</a:t>
            </a:r>
          </a:p>
          <a:p>
            <a:endParaRPr lang="de-DE" sz="2400" dirty="0"/>
          </a:p>
          <a:p>
            <a:r>
              <a:rPr lang="de-DE" sz="2400" b="1" dirty="0"/>
              <a:t>Erkenntnisse</a:t>
            </a:r>
            <a:r>
              <a:rPr lang="de-DE" sz="2400" dirty="0"/>
              <a:t>: </a:t>
            </a:r>
          </a:p>
          <a:p>
            <a:pPr lvl="1"/>
            <a:r>
              <a:rPr lang="de-DE" sz="2000" dirty="0"/>
              <a:t>Mehr Kommunikation im Team (auf einen gemeinsamen Nenner kommen)</a:t>
            </a:r>
          </a:p>
          <a:p>
            <a:r>
              <a:rPr lang="de-AT" sz="2400" b="1" dirty="0"/>
              <a:t>Weiteres Vorgehen: </a:t>
            </a:r>
          </a:p>
          <a:p>
            <a:pPr lvl="1"/>
            <a:r>
              <a:rPr lang="de-DE" sz="2000" dirty="0"/>
              <a:t>Praktisches Testen von QR-Code Lösung</a:t>
            </a:r>
          </a:p>
          <a:p>
            <a:endParaRPr lang="de-DE" sz="24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70DC8F-94CA-1F18-023D-95CD2FD3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110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8CCD-F997-A598-B60F-C2F7208A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8E261-E29C-A1E2-D576-08DF5A1B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Aktueller Stand - </a:t>
            </a:r>
            <a:r>
              <a:rPr lang="de-AT" b="1" dirty="0" err="1"/>
              <a:t>Dietmair</a:t>
            </a:r>
            <a:endParaRPr lang="de-AT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CE5722-F175-4304-B020-F12BF60F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65EC21-37DC-2868-9706-5F1DA0EE6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Projektkoordination über alle Phasen durchgeführt</a:t>
            </a:r>
          </a:p>
          <a:p>
            <a:r>
              <a:rPr lang="de-DE" sz="2400" dirty="0"/>
              <a:t>Projekthandbuch und Projektdokumentation erstellt</a:t>
            </a:r>
          </a:p>
          <a:p>
            <a:r>
              <a:rPr lang="de-DE" sz="2400" dirty="0"/>
              <a:t>Agile Aufgabenverwaltung über GitHub und Teamabstimmungen unterstützt</a:t>
            </a:r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b="1" dirty="0"/>
              <a:t>Erkenntnisse</a:t>
            </a:r>
            <a:r>
              <a:rPr lang="de-DE" sz="2400" dirty="0"/>
              <a:t>: </a:t>
            </a:r>
          </a:p>
          <a:p>
            <a:pPr lvl="1"/>
            <a:r>
              <a:rPr lang="de-DE" sz="2000" dirty="0"/>
              <a:t>Regelmäßige Abstimmungen entscheidend für Projektfortschritt</a:t>
            </a:r>
          </a:p>
          <a:p>
            <a:pPr lvl="1"/>
            <a:r>
              <a:rPr lang="de-DE" sz="2000" dirty="0"/>
              <a:t>Mehr Kommunikation im Team</a:t>
            </a:r>
          </a:p>
          <a:p>
            <a:r>
              <a:rPr lang="de-AT" sz="2400" b="1" dirty="0"/>
              <a:t>Weiteres Vorgehen: </a:t>
            </a:r>
          </a:p>
          <a:p>
            <a:pPr lvl="1"/>
            <a:r>
              <a:rPr lang="de-DE" sz="2000" dirty="0"/>
              <a:t>Finalisieren der Projektdokumentation</a:t>
            </a:r>
          </a:p>
          <a:p>
            <a:pPr lvl="1"/>
            <a:r>
              <a:rPr lang="de-DE" sz="2000" dirty="0"/>
              <a:t>Unterstützung bei Systemtests und Feinschliff</a:t>
            </a:r>
          </a:p>
          <a:p>
            <a:endParaRPr lang="de-DE" sz="24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6A6911-888D-C407-B376-E833A5B7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8971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Meilensteinplan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AT" dirty="0"/>
          </a:p>
          <a:p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1026" name="Picture 2" descr="https://cdn.discordapp.com/attachments/887733611523100742/1476130058384048271/image.png?ex=69a000bf&amp;is=699eaf3f&amp;hm=567864ed2f272e5468a130cdac5a179a7974bde97cd3bab3e92b13ea63424b33&amp;">
            <a:extLst>
              <a:ext uri="{FF2B5EF4-FFF2-40B4-BE49-F238E27FC236}">
                <a16:creationId xmlns:a16="http://schemas.microsoft.com/office/drawing/2014/main" id="{4913B4B1-60D9-47B8-BF9B-0FADC8E24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6388"/>
            <a:ext cx="12192000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80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sz="2900" b="1" dirty="0"/>
              <a:t>Spezifisch: </a:t>
            </a:r>
            <a:r>
              <a:rPr lang="de-DE" dirty="0"/>
              <a:t>Inventarisierungslösung entwickeln, die den aktuellen schulischen Praxisprozess deutlich vereinfacht &amp; automatisiert.</a:t>
            </a:r>
          </a:p>
          <a:p>
            <a:endParaRPr lang="de-DE" dirty="0"/>
          </a:p>
          <a:p>
            <a:r>
              <a:rPr lang="de-DE" sz="2900" b="1" dirty="0"/>
              <a:t>Messbar: </a:t>
            </a:r>
            <a:r>
              <a:rPr lang="de-DE" sz="2900" dirty="0"/>
              <a:t>Inventarisierungslösung finden, welche den Aufwand immens senkt, die Wartbarkeit deutlich erhöht, im Webbereich.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sz="2900" b="1" dirty="0"/>
              <a:t>Attraktiv/Akzeptiert: </a:t>
            </a:r>
            <a:r>
              <a:rPr lang="de-DE" sz="2900" dirty="0"/>
              <a:t>Die Lösung mit ausgewählter Testgruppe testen, praktische Nutzerbedienbarkeit erkennbar machen.</a:t>
            </a:r>
          </a:p>
          <a:p>
            <a:endParaRPr lang="de-DE" dirty="0"/>
          </a:p>
          <a:p>
            <a:r>
              <a:rPr lang="de-DE" sz="2900" b="1" dirty="0"/>
              <a:t>Realistisch: </a:t>
            </a:r>
            <a:r>
              <a:rPr lang="de-DE" sz="2900" dirty="0"/>
              <a:t>Lösung basierende vorhandene schulische Ressourcen, kaum zusätzliche Investitionen produziert </a:t>
            </a:r>
            <a:r>
              <a:rPr lang="de-DE" sz="2600" i="1" dirty="0"/>
              <a:t>(bis auf Stromkosten)</a:t>
            </a:r>
            <a:r>
              <a:rPr lang="de-DE" sz="2900" dirty="0"/>
              <a:t>. </a:t>
            </a:r>
            <a:br>
              <a:rPr lang="de-DE" sz="2900" dirty="0"/>
            </a:br>
            <a:r>
              <a:rPr lang="de-DE" sz="2900" dirty="0"/>
              <a:t>Klarer Plan, mehrere Phasen, sichert Umsetzbarkeit im vorgegebenen Zeitrahmen.</a:t>
            </a:r>
          </a:p>
          <a:p>
            <a:endParaRPr lang="de-DE" dirty="0"/>
          </a:p>
          <a:p>
            <a:r>
              <a:rPr lang="de-DE" b="1" dirty="0"/>
              <a:t>Terminiert: </a:t>
            </a:r>
            <a:r>
              <a:rPr lang="de-DE" sz="2900" dirty="0"/>
              <a:t>Ganzer Prozess von Recherche - Implementierung - Testphase – Dokumentierung klar terminiert</a:t>
            </a:r>
            <a:r>
              <a:rPr lang="de-DE" dirty="0"/>
              <a:t>.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0153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E801-BED5-1F79-C6A7-3DB32000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125F3-7331-AD0E-1D55-396A7ED5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Kosten &amp; SDGs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88FF4E-C771-69EC-080A-5A5BECC3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/>
          <a:p>
            <a:r>
              <a:rPr lang="de-AT" dirty="0"/>
              <a:t>Kostenabschätzung und Bedeckung</a:t>
            </a:r>
          </a:p>
          <a:p>
            <a:pPr lvl="1"/>
            <a:r>
              <a:rPr lang="de-AT" dirty="0"/>
              <a:t>Stromkosten</a:t>
            </a:r>
          </a:p>
          <a:p>
            <a:pPr lvl="1"/>
            <a:r>
              <a:rPr lang="de-AT" dirty="0"/>
              <a:t>Druckkosten</a:t>
            </a:r>
          </a:p>
          <a:p>
            <a:r>
              <a:rPr lang="de-AT" dirty="0"/>
              <a:t>Falls man ein Unternehmen wäre</a:t>
            </a:r>
          </a:p>
          <a:p>
            <a:pPr lvl="1"/>
            <a:r>
              <a:rPr lang="de-AT" dirty="0"/>
              <a:t>Kosten basierend auf 57,5€ Brutto Stundenlohn ( je 180h 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AT" dirty="0"/>
              <a:t>10.350,00 € pro Person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AT" dirty="0"/>
              <a:t>31.050,00 € Personalkosten</a:t>
            </a:r>
          </a:p>
          <a:p>
            <a:r>
              <a:rPr lang="de-AT" dirty="0"/>
              <a:t>Welche SDGs fallen unter die DA?</a:t>
            </a:r>
          </a:p>
          <a:p>
            <a:pPr lvl="1"/>
            <a:r>
              <a:rPr lang="de-AT" dirty="0"/>
              <a:t>9 Industrie, Innovation und Infrastruktur</a:t>
            </a:r>
          </a:p>
          <a:p>
            <a:pPr lvl="1"/>
            <a:r>
              <a:rPr lang="de-AT" dirty="0"/>
              <a:t>12 Verantwortungsvolle Konsum- und Produktionsmuster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CDCA66-C931-8938-DB3E-A0F51426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9B02EB-3B97-2F8F-486E-3428AF6B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  <p:pic>
        <p:nvPicPr>
          <p:cNvPr id="1030" name="Picture 6" descr="17 SDGs Ziele Nachhaltiger Entwicklung">
            <a:extLst>
              <a:ext uri="{FF2B5EF4-FFF2-40B4-BE49-F238E27FC236}">
                <a16:creationId xmlns:a16="http://schemas.microsoft.com/office/drawing/2014/main" id="{86FFDDC4-A3BC-4A30-9234-375827AE8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8" t="47456" r="50827" b="33071"/>
          <a:stretch/>
        </p:blipFill>
        <p:spPr bwMode="auto">
          <a:xfrm>
            <a:off x="8737600" y="4060656"/>
            <a:ext cx="1341522" cy="133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7 SDGs Ziele Nachhaltiger Entwicklung">
            <a:extLst>
              <a:ext uri="{FF2B5EF4-FFF2-40B4-BE49-F238E27FC236}">
                <a16:creationId xmlns:a16="http://schemas.microsoft.com/office/drawing/2014/main" id="{BC53662E-F2CC-4B51-B6A2-8C3BF8D9E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93" t="47456" r="4755" b="33071"/>
          <a:stretch/>
        </p:blipFill>
        <p:spPr bwMode="auto">
          <a:xfrm>
            <a:off x="10307052" y="4060655"/>
            <a:ext cx="1275348" cy="133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57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 dato durchgesehen:</a:t>
            </a:r>
          </a:p>
          <a:p>
            <a:pPr lvl="1"/>
            <a:r>
              <a:rPr lang="de-DE" dirty="0">
                <a:hlinkClick r:id="rId2"/>
              </a:rPr>
              <a:t>Erstellung - Allgemeine Infos | Diplomarbeiten an Berufsbildenden Schulen | Bundesministerium für Bildung</a:t>
            </a:r>
            <a:endParaRPr lang="de-DE" dirty="0"/>
          </a:p>
          <a:p>
            <a:pPr lvl="1"/>
            <a:r>
              <a:rPr lang="de-DE" dirty="0"/>
              <a:t>Code Bibliothek Basic Systems </a:t>
            </a:r>
          </a:p>
          <a:p>
            <a:pPr lvl="1"/>
            <a:r>
              <a:rPr lang="de-DE" dirty="0">
                <a:hlinkClick r:id="rId3"/>
              </a:rPr>
              <a:t>Inventurarten • Einfach erklärt, Übersicht · [mit Video]</a:t>
            </a:r>
            <a:r>
              <a:rPr lang="de-DE" dirty="0"/>
              <a:t> </a:t>
            </a:r>
          </a:p>
          <a:p>
            <a:pPr lvl="1"/>
            <a:r>
              <a:rPr lang="de-DE" dirty="0">
                <a:hlinkClick r:id="rId4"/>
              </a:rPr>
              <a:t>Mit QR-Code Inventarisierung vereinfachen</a:t>
            </a:r>
            <a:endParaRPr lang="de-DE" dirty="0"/>
          </a:p>
          <a:p>
            <a:pPr lvl="1"/>
            <a:r>
              <a:rPr lang="en-US" dirty="0">
                <a:hlinkClick r:id="rId5"/>
              </a:rPr>
              <a:t>SDGs - Sustainable Development Goals - Agenda 2039</a:t>
            </a:r>
            <a:endParaRPr lang="en-US" dirty="0"/>
          </a:p>
          <a:p>
            <a:pPr lvl="1"/>
            <a:r>
              <a:rPr lang="de-DE" dirty="0"/>
              <a:t>Siehe </a:t>
            </a:r>
            <a:r>
              <a:rPr lang="de-DE" dirty="0">
                <a:hlinkClick r:id="rId6"/>
              </a:rPr>
              <a:t>Literaturverzeichnis GitHub</a:t>
            </a:r>
            <a:endParaRPr lang="de-AT" dirty="0"/>
          </a:p>
          <a:p>
            <a:pPr lvl="1"/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Breitbild</PresentationFormat>
  <Paragraphs>91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Adobe Gothic Std B</vt:lpstr>
      <vt:lpstr>Arial</vt:lpstr>
      <vt:lpstr>Calibri</vt:lpstr>
      <vt:lpstr>Wingdings</vt:lpstr>
      <vt:lpstr>Larissa</vt:lpstr>
      <vt:lpstr>PowerPoint-Präsentation</vt:lpstr>
      <vt:lpstr>Aufgabenstellung &amp; Aufteilung</vt:lpstr>
      <vt:lpstr>Aktueller Stand - Karner</vt:lpstr>
      <vt:lpstr>Aktueller Stand - Herbei</vt:lpstr>
      <vt:lpstr>Aktueller Stand - Dietmair</vt:lpstr>
      <vt:lpstr>Meilensteinplan</vt:lpstr>
      <vt:lpstr>Ziele</vt:lpstr>
      <vt:lpstr>Kosten &amp; SDGs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Andre Karner</cp:lastModifiedBy>
  <cp:revision>460</cp:revision>
  <cp:lastPrinted>2020-04-02T17:36:48Z</cp:lastPrinted>
  <dcterms:created xsi:type="dcterms:W3CDTF">2012-09-14T17:11:23Z</dcterms:created>
  <dcterms:modified xsi:type="dcterms:W3CDTF">2026-02-25T08:35:47Z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