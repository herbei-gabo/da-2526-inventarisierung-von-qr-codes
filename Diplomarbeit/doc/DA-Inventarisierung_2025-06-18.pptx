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582" r:id="rId6"/>
    <p:sldId id="2583" r:id="rId7"/>
    <p:sldId id="2584" r:id="rId8"/>
    <p:sldId id="2585" r:id="rId9"/>
    <p:sldId id="2586" r:id="rId10"/>
  </p:sldIdLst>
  <p:sldSz cx="12192000" cy="6858000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AE00"/>
    <a:srgbClr val="660033"/>
    <a:srgbClr val="437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28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04" y="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5592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6" y="1"/>
            <a:ext cx="3075647" cy="511486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999" y="1"/>
            <a:ext cx="3075646" cy="511486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4597EA2D-D11E-4F11-940E-96FC3DC86B48}" type="datetimeFigureOut">
              <a:rPr lang="de-DE" smtClean="0"/>
              <a:pPr/>
              <a:t>18.06.2025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6" y="9721499"/>
            <a:ext cx="3075647" cy="511485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999" y="9721499"/>
            <a:ext cx="3075646" cy="511485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ED1FD422-38C1-46E5-AEB3-FCA53D65A208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33588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9" y="1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25FA59D5-1C02-4780-AF81-09ADAD492357}" type="datetimeFigureOut">
              <a:rPr lang="de-AT" smtClean="0"/>
              <a:pPr/>
              <a:t>18.06.2025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19900" cy="383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519" tIns="47259" rIns="94519" bIns="47259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519" tIns="47259" rIns="94519" bIns="47259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9" y="9721106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7AA6D168-C717-485B-B0C8-699ECBDF2CFF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77337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19900" cy="38369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A6D168-C717-485B-B0C8-699ECBDF2CFF}" type="slidenum">
              <a:rPr lang="de-AT" smtClean="0"/>
              <a:pPr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93239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DBAB2-6CCA-40C7-8885-2C056A77E284}" type="datetime1">
              <a:rPr lang="de-AT" smtClean="0"/>
              <a:t>18.06.2025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sp>
        <p:nvSpPr>
          <p:cNvPr id="14" name="Textfeld 13"/>
          <p:cNvSpPr txBox="1"/>
          <p:nvPr userDrawn="1"/>
        </p:nvSpPr>
        <p:spPr>
          <a:xfrm>
            <a:off x="1967541" y="6381328"/>
            <a:ext cx="2688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AT" sz="11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www.</a:t>
            </a:r>
            <a:r>
              <a:rPr lang="de-AT" sz="16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htl-</a:t>
            </a:r>
            <a:r>
              <a:rPr lang="de-AT" sz="1600">
                <a:solidFill>
                  <a:schemeClr val="tx2"/>
                </a:solidFill>
                <a:latin typeface="Adobe Gothic Std B" pitchFamily="34" charset="-128"/>
                <a:ea typeface="Adobe Gothic Std B" pitchFamily="34" charset="-128"/>
              </a:rPr>
              <a:t>leoben</a:t>
            </a:r>
            <a:r>
              <a:rPr lang="de-AT" sz="11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.at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AF41BCF-DE93-46E8-96C4-64339D1576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6800" y="259200"/>
            <a:ext cx="6224367" cy="12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057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9158" y="188640"/>
            <a:ext cx="10270380" cy="72008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09600" y="1052739"/>
            <a:ext cx="10972800" cy="50734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B591F-AE7F-406B-977E-415D708CD05B}" type="datetime1">
              <a:rPr lang="de-AT" smtClean="0"/>
              <a:t>18.06.2025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9" name="Gerade Verbindung 8"/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8"/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614C7656-561A-4230-AE49-F934B21548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96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08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03179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03179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4213-31A7-43A9-B381-650B72838F3D}" type="datetime1">
              <a:rPr lang="de-AT" smtClean="0"/>
              <a:t>18.06.2025</a:t>
            </a:fld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26" name="Gerade Verbindung 8">
            <a:extLst>
              <a:ext uri="{FF2B5EF4-FFF2-40B4-BE49-F238E27FC236}">
                <a16:creationId xmlns:a16="http://schemas.microsoft.com/office/drawing/2014/main" id="{B231FD8D-BD46-413B-B98F-46B87457439F}"/>
              </a:ext>
            </a:extLst>
          </p:cNvPr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8">
            <a:extLst>
              <a:ext uri="{FF2B5EF4-FFF2-40B4-BE49-F238E27FC236}">
                <a16:creationId xmlns:a16="http://schemas.microsoft.com/office/drawing/2014/main" id="{FF9F6E03-68AB-4FB8-BF89-42F3F9730FF5}"/>
              </a:ext>
            </a:extLst>
          </p:cNvPr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ußzeilenplatzhalter 4">
            <a:extLst>
              <a:ext uri="{FF2B5EF4-FFF2-40B4-BE49-F238E27FC236}">
                <a16:creationId xmlns:a16="http://schemas.microsoft.com/office/drawing/2014/main" id="{61780AA7-F848-43F9-AE0D-14BBE9A66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16B0F48-B7CD-4678-8B22-ED12B938C2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51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941989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17053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9" y="941989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9" y="1705316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23C63-4118-48BA-956A-11DEEC1AA07D}" type="datetime1">
              <a:rPr lang="de-AT" smtClean="0"/>
              <a:t>18.06.2025</a:t>
            </a:fld>
            <a:endParaRPr lang="de-AT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12" name="Gerade Verbindung 8">
            <a:extLst>
              <a:ext uri="{FF2B5EF4-FFF2-40B4-BE49-F238E27FC236}">
                <a16:creationId xmlns:a16="http://schemas.microsoft.com/office/drawing/2014/main" id="{D2F1EB9E-8380-425B-B884-1A5E1DD9E9F2}"/>
              </a:ext>
            </a:extLst>
          </p:cNvPr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8">
            <a:extLst>
              <a:ext uri="{FF2B5EF4-FFF2-40B4-BE49-F238E27FC236}">
                <a16:creationId xmlns:a16="http://schemas.microsoft.com/office/drawing/2014/main" id="{C32164E0-C3F5-4411-BA01-05D65208091F}"/>
              </a:ext>
            </a:extLst>
          </p:cNvPr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155BF4B4-4484-4D9C-BFD8-E75462DA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5378A7E-CD4F-4738-BF47-8D1B09A913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6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355E-663F-46F6-A58A-7E827B834F26}" type="datetime1">
              <a:rPr lang="de-AT" smtClean="0"/>
              <a:t>18.06.2025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4084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imly.com/qr-code-inventarisierung/?utm_source=chatgpt.com" TargetMode="External"/><Relationship Id="rId2" Type="http://schemas.openxmlformats.org/officeDocument/2006/relationships/hyperlink" Target="https://studyflix.de/wirtschaft/inventurarten-7474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lobalcompact.at/sustainable-development-goals" TargetMode="External"/><Relationship Id="rId4" Type="http://schemas.openxmlformats.org/officeDocument/2006/relationships/hyperlink" Target="https://www.jobted.at/gehalt/htl-ingenieur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26"/>
          <p:cNvSpPr txBox="1">
            <a:spLocks noChangeArrowheads="1"/>
          </p:cNvSpPr>
          <p:nvPr/>
        </p:nvSpPr>
        <p:spPr>
          <a:xfrm>
            <a:off x="2895600" y="1928802"/>
            <a:ext cx="7629556" cy="2571768"/>
          </a:xfrm>
          <a:prstGeom prst="rect">
            <a:avLst/>
          </a:prstGeom>
        </p:spPr>
        <p:txBody>
          <a:bodyPr/>
          <a:lstStyle/>
          <a:p>
            <a:r>
              <a:rPr lang="de-AT" sz="3200" b="1" dirty="0">
                <a:solidFill>
                  <a:srgbClr val="9BBB59"/>
                </a:solidFill>
              </a:rPr>
              <a:t>Inventarisierung von QR-Codes</a:t>
            </a:r>
          </a:p>
          <a:p>
            <a:pPr lvl="0">
              <a:spcBef>
                <a:spcPct val="0"/>
              </a:spcBef>
              <a:defRPr/>
            </a:pPr>
            <a:endParaRPr lang="de-DE" sz="3200" dirty="0">
              <a:solidFill>
                <a:srgbClr val="0070C0"/>
              </a:solidFill>
            </a:endParaRPr>
          </a:p>
        </p:txBody>
      </p:sp>
      <p:sp>
        <p:nvSpPr>
          <p:cNvPr id="7" name="Text Box 1030">
            <a:extLst>
              <a:ext uri="{FF2B5EF4-FFF2-40B4-BE49-F238E27FC236}">
                <a16:creationId xmlns:a16="http://schemas.microsoft.com/office/drawing/2014/main" id="{ED76D2C5-1C5A-49E1-B111-D7EA454A9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8088" y="4572008"/>
            <a:ext cx="63738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/>
          <a:p>
            <a:pPr algn="r"/>
            <a:r>
              <a:rPr lang="nl-NL" sz="2000" dirty="0"/>
              <a:t>Karner André, Herbei Gabriel, Dietmair Stephan</a:t>
            </a:r>
          </a:p>
        </p:txBody>
      </p:sp>
      <p:sp>
        <p:nvSpPr>
          <p:cNvPr id="8" name="Text Box 1030">
            <a:extLst>
              <a:ext uri="{FF2B5EF4-FFF2-40B4-BE49-F238E27FC236}">
                <a16:creationId xmlns:a16="http://schemas.microsoft.com/office/drawing/2014/main" id="{7CF2A42E-995E-450D-9017-7EE5A0A26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414" y="4917056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/>
          <a:p>
            <a:pPr algn="r"/>
            <a:fld id="{2CFB1ECA-D1C7-49A6-ADE8-A263B28B0548}" type="datetime1">
              <a:rPr lang="de-AT" smtClean="0"/>
              <a:t>18.06.2025</a:t>
            </a:fld>
            <a:endParaRPr lang="de-AT" dirty="0"/>
          </a:p>
        </p:txBody>
      </p:sp>
      <p:sp>
        <p:nvSpPr>
          <p:cNvPr id="5" name="Text Box 1030">
            <a:extLst>
              <a:ext uri="{FF2B5EF4-FFF2-40B4-BE49-F238E27FC236}">
                <a16:creationId xmlns:a16="http://schemas.microsoft.com/office/drawing/2014/main" id="{549EEA25-235A-4DB2-B18D-8226E1B72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6590" y="5322640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 dirty="0"/>
              <a:t>Betreuer/in: </a:t>
            </a:r>
            <a:r>
              <a:rPr lang="de-DE" dirty="0"/>
              <a:t>Dipl.-Wirt.-Ing. (FH) Leitner Christoph, </a:t>
            </a:r>
            <a:r>
              <a:rPr lang="de-DE" dirty="0" err="1"/>
              <a:t>BEd</a:t>
            </a:r>
            <a:endParaRPr lang="de-AT" dirty="0"/>
          </a:p>
        </p:txBody>
      </p:sp>
      <p:sp>
        <p:nvSpPr>
          <p:cNvPr id="9" name="Text Box 1030">
            <a:extLst>
              <a:ext uri="{FF2B5EF4-FFF2-40B4-BE49-F238E27FC236}">
                <a16:creationId xmlns:a16="http://schemas.microsoft.com/office/drawing/2014/main" id="{0CE138CF-753E-4573-B47E-8055A445E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6590" y="5608392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 dirty="0"/>
              <a:t>Firmenpartner: HTL Leoben</a:t>
            </a:r>
          </a:p>
        </p:txBody>
      </p:sp>
    </p:spTree>
    <p:extLst>
      <p:ext uri="{BB962C8B-B14F-4D97-AF65-F5344CB8AC3E}">
        <p14:creationId xmlns:p14="http://schemas.microsoft.com/office/powerpoint/2010/main" val="3194803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Partner/Aufgabenstellung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AT" dirty="0"/>
              <a:t>Partner: HTL Leoben</a:t>
            </a:r>
          </a:p>
          <a:p>
            <a:r>
              <a:rPr lang="de-DE" sz="2400" dirty="0"/>
              <a:t>Aktuell werden permanent Objekte, Werkzeuge, IT-Hardware mittels einer Excel Liste inventarisiert ---&gt; sehr aufwendig und unpraktisch.</a:t>
            </a:r>
          </a:p>
          <a:p>
            <a:pPr lvl="1"/>
            <a:r>
              <a:rPr lang="de-DE" b="1" dirty="0"/>
              <a:t>Karner, Herbei, Dietmair</a:t>
            </a:r>
            <a:r>
              <a:rPr lang="de-DE" dirty="0"/>
              <a:t>: Verschiedene Inventarisierungslösungen zu recherchieren und gegenüberzustellen.</a:t>
            </a:r>
          </a:p>
          <a:p>
            <a:pPr lvl="1"/>
            <a:r>
              <a:rPr lang="de-DE" b="1" dirty="0"/>
              <a:t>Karner</a:t>
            </a:r>
            <a:r>
              <a:rPr lang="de-DE" dirty="0"/>
              <a:t>: Ein Programm entwickeln um die Inventarisierung einfach und kostengünstig durchzuführen.</a:t>
            </a:r>
          </a:p>
          <a:p>
            <a:pPr lvl="1"/>
            <a:r>
              <a:rPr lang="de-DE" b="1" dirty="0"/>
              <a:t>Herbei</a:t>
            </a:r>
            <a:r>
              <a:rPr lang="de-DE" dirty="0"/>
              <a:t>: Diese Lösungen mit Schulmonitoren oder anderen Objekten testen, sowie die Qualitätskontrolle.</a:t>
            </a:r>
          </a:p>
          <a:p>
            <a:pPr lvl="1"/>
            <a:r>
              <a:rPr lang="de-DE" b="1" dirty="0"/>
              <a:t>Dietmair</a:t>
            </a:r>
            <a:r>
              <a:rPr lang="de-DE" dirty="0"/>
              <a:t>: Projekthandbuch über das ganze Projekt führen, sowie Evaluierung der Technologiealternativen.</a:t>
            </a:r>
            <a:endParaRPr lang="de-AT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2</a:t>
            </a:fld>
            <a:endParaRPr lang="de-AT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2030CB0E-E62D-4716-A823-85A7C51C1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/>
          <a:p>
            <a:r>
              <a:rPr lang="de-DE" dirty="0"/>
              <a:t>Inventarisierung von QR-Codes Karner, Herbei, Dietmair</a:t>
            </a:r>
          </a:p>
        </p:txBody>
      </p:sp>
    </p:spTree>
    <p:extLst>
      <p:ext uri="{BB962C8B-B14F-4D97-AF65-F5344CB8AC3E}">
        <p14:creationId xmlns:p14="http://schemas.microsoft.com/office/powerpoint/2010/main" val="1710119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Ziele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Inventarisierung von QR-Codes Karner, Herbei, Dietmair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sz="2900" b="1" dirty="0"/>
              <a:t>Spezifisch: </a:t>
            </a:r>
            <a:r>
              <a:rPr lang="de-DE" dirty="0"/>
              <a:t>Inventarisierungslösung entwickeln, die den aktuellen schulischen Praxisprozess deutlich vereinfacht &amp; automatisiert.</a:t>
            </a:r>
          </a:p>
          <a:p>
            <a:endParaRPr lang="de-DE" dirty="0"/>
          </a:p>
          <a:p>
            <a:r>
              <a:rPr lang="de-DE" sz="2900" b="1" dirty="0"/>
              <a:t>Messbar: </a:t>
            </a:r>
            <a:r>
              <a:rPr lang="de-DE" sz="2900" dirty="0"/>
              <a:t>Inventarisierungslösung finden, welche den Aufwand immens senkt, die Wartbarkeit deutlich erhöht, im Webbereich.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sz="2900" b="1" dirty="0"/>
              <a:t>Attraktiv/Akzeptiert: </a:t>
            </a:r>
            <a:r>
              <a:rPr lang="de-DE" sz="2900" dirty="0"/>
              <a:t>Die Lösung mit ausgewählter Testgruppe testen, praktische Nutzerbedienbarkeit erkennbar machen.</a:t>
            </a:r>
          </a:p>
          <a:p>
            <a:endParaRPr lang="de-DE" dirty="0"/>
          </a:p>
          <a:p>
            <a:r>
              <a:rPr lang="de-DE" sz="2900" b="1" dirty="0"/>
              <a:t>Realistisch: </a:t>
            </a:r>
            <a:r>
              <a:rPr lang="de-DE" sz="2900" dirty="0"/>
              <a:t>Lösung basierende vorhandene schulische Ressourcen, kaum zusätzliche Investitionen produziert </a:t>
            </a:r>
            <a:r>
              <a:rPr lang="de-DE" sz="2600" i="1" dirty="0"/>
              <a:t>(bis auf Stromkosten)</a:t>
            </a:r>
            <a:r>
              <a:rPr lang="de-DE" sz="2900" dirty="0"/>
              <a:t>. </a:t>
            </a:r>
            <a:br>
              <a:rPr lang="de-DE" sz="2900" dirty="0"/>
            </a:br>
            <a:r>
              <a:rPr lang="de-DE" sz="2900" dirty="0"/>
              <a:t>Klarer Plan, mehrere Phasen, sichert Umsetzbarkeit im vorgegebenen Zeitrahmen.</a:t>
            </a:r>
          </a:p>
          <a:p>
            <a:endParaRPr lang="de-DE" dirty="0"/>
          </a:p>
          <a:p>
            <a:r>
              <a:rPr lang="de-DE" b="1" dirty="0"/>
              <a:t>Terminiert: </a:t>
            </a:r>
            <a:r>
              <a:rPr lang="de-DE" sz="2900" dirty="0"/>
              <a:t>Ganzer Prozess von Recherche - Implementierung - Testphase – Dokumentierung klar terminiert</a:t>
            </a:r>
            <a:r>
              <a:rPr lang="de-DE" dirty="0"/>
              <a:t>.</a:t>
            </a:r>
            <a:endParaRPr lang="de-AT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25678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96C6BA-99A1-43F4-92B8-B6D762EF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Literatur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28378C-21E0-453B-B255-71BAC911E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Bis dato durchgesehen:</a:t>
            </a:r>
          </a:p>
          <a:p>
            <a:pPr lvl="1"/>
            <a:r>
              <a:rPr lang="de-DE" dirty="0">
                <a:hlinkClick r:id="rId2"/>
              </a:rPr>
              <a:t>Inventurarten • Einfach erklärt, Übersicht · [mit Video]</a:t>
            </a:r>
            <a:r>
              <a:rPr lang="de-DE" dirty="0"/>
              <a:t> </a:t>
            </a:r>
          </a:p>
          <a:p>
            <a:pPr lvl="1"/>
            <a:r>
              <a:rPr lang="de-DE" dirty="0">
                <a:hlinkClick r:id="rId3"/>
              </a:rPr>
              <a:t>Mit QR-Code Inventarisierung vereinfachen</a:t>
            </a:r>
            <a:endParaRPr lang="de-DE" dirty="0"/>
          </a:p>
          <a:p>
            <a:pPr lvl="1"/>
            <a:r>
              <a:rPr lang="de-DE" dirty="0">
                <a:hlinkClick r:id="rId4"/>
              </a:rPr>
              <a:t>Was verdient ein HTL Ingenieur in Österreich? (Gehalt 2025)</a:t>
            </a:r>
            <a:endParaRPr lang="de-DE" dirty="0"/>
          </a:p>
          <a:p>
            <a:pPr lvl="1"/>
            <a:r>
              <a:rPr lang="en-US" dirty="0">
                <a:hlinkClick r:id="rId5"/>
              </a:rPr>
              <a:t>SDGs - Sustainable Development Goals - Agenda 2039</a:t>
            </a:r>
            <a:endParaRPr lang="de-AT" dirty="0"/>
          </a:p>
          <a:p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AADA028-308D-430B-A45B-407D875A2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Inventarisierung von QR-Codes Karner, Herbei, Dietmair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38338F-922C-40A7-B140-637B8277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29837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96C6BA-99A1-43F4-92B8-B6D762EF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PM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28378C-21E0-453B-B255-71BAC911E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AADA028-308D-430B-A45B-407D875A2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Inventarisierung von QR-Codes Karner, Herbei, Dietmair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38338F-922C-40A7-B140-637B8277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5</a:t>
            </a:fld>
            <a:endParaRPr lang="de-AT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C4491D4-886F-32B3-C491-92C2724ED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51" y="1005922"/>
            <a:ext cx="10109200" cy="512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704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BE801-BED5-1F79-C6A7-3DB320006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F125F3-7331-AD0E-1D55-396A7ED56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PM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88FF4E-C771-69EC-080A-5A5BECC33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9"/>
            <a:ext cx="10972800" cy="5073427"/>
          </a:xfrm>
        </p:spPr>
        <p:txBody>
          <a:bodyPr/>
          <a:lstStyle/>
          <a:p>
            <a:r>
              <a:rPr lang="de-AT" dirty="0"/>
              <a:t>Kostenabschätzung und Bedeckung</a:t>
            </a:r>
          </a:p>
          <a:p>
            <a:pPr lvl="1"/>
            <a:r>
              <a:rPr lang="de-AT" dirty="0"/>
              <a:t>Stromkosten</a:t>
            </a:r>
          </a:p>
          <a:p>
            <a:pPr lvl="1"/>
            <a:r>
              <a:rPr lang="de-AT" dirty="0"/>
              <a:t>Druckkosten</a:t>
            </a:r>
          </a:p>
          <a:p>
            <a:r>
              <a:rPr lang="de-AT" dirty="0"/>
              <a:t>Falls man ein Unternehmen wäre</a:t>
            </a:r>
          </a:p>
          <a:p>
            <a:pPr lvl="1"/>
            <a:r>
              <a:rPr lang="de-AT" dirty="0"/>
              <a:t>Kosten basierend auf 57,5€ Brutto Stundenlohn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de-AT" dirty="0"/>
              <a:t>10.350,00 € pro Person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de-AT" dirty="0"/>
              <a:t>31.050,00 € Personalkosten</a:t>
            </a:r>
          </a:p>
          <a:p>
            <a:r>
              <a:rPr lang="de-AT" dirty="0"/>
              <a:t>Welche SDGs fallen unter die DA?</a:t>
            </a:r>
          </a:p>
          <a:p>
            <a:pPr lvl="1"/>
            <a:r>
              <a:rPr lang="de-AT" dirty="0"/>
              <a:t>9 Industrie, Innovation und Infrastruktur</a:t>
            </a:r>
          </a:p>
          <a:p>
            <a:pPr lvl="1"/>
            <a:r>
              <a:rPr lang="de-AT" dirty="0"/>
              <a:t>12 Verantwortungsvolle Konsum- und Produktionsmuster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3CDCA66-C931-8938-DB3E-A0F514260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Inventarisierung von QR-Codes Karner, Herbei, Dietmair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9B02EB-3B97-2F8F-486E-3428AF6B8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6</a:t>
            </a:fld>
            <a:endParaRPr lang="de-AT"/>
          </a:p>
        </p:txBody>
      </p:sp>
      <p:pic>
        <p:nvPicPr>
          <p:cNvPr id="1030" name="Picture 6" descr="17 SDGs Ziele Nachhaltiger Entwicklung">
            <a:extLst>
              <a:ext uri="{FF2B5EF4-FFF2-40B4-BE49-F238E27FC236}">
                <a16:creationId xmlns:a16="http://schemas.microsoft.com/office/drawing/2014/main" id="{86FFDDC4-A3BC-4A30-9234-375827AE86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38" t="47456" r="50827" b="33071"/>
          <a:stretch/>
        </p:blipFill>
        <p:spPr bwMode="auto">
          <a:xfrm>
            <a:off x="8737600" y="4060656"/>
            <a:ext cx="1341522" cy="1335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17 SDGs Ziele Nachhaltiger Entwicklung">
            <a:extLst>
              <a:ext uri="{FF2B5EF4-FFF2-40B4-BE49-F238E27FC236}">
                <a16:creationId xmlns:a16="http://schemas.microsoft.com/office/drawing/2014/main" id="{BC53662E-F2CC-4B51-B6A2-8C3BF8D9EC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93" t="47456" r="4755" b="33071"/>
          <a:stretch/>
        </p:blipFill>
        <p:spPr bwMode="auto">
          <a:xfrm>
            <a:off x="10307052" y="4060655"/>
            <a:ext cx="1275348" cy="1335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7572146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5F8F8BE0F772449AA3E28E2051A517F" ma:contentTypeVersion="0" ma:contentTypeDescription="Ein neues Dokument erstellen." ma:contentTypeScope="" ma:versionID="0d260f8c1711e932026baa77adf3512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0627edd4f09c1f414843cf0643fb7b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B09AE3-FA1D-40C8-A6CE-A2D9F55131C8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elements/1.1/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2C214F1-4297-4767-8275-0DA039616A9F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62B322D-2084-418A-8960-B074ADC5B6D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</Words>
  <Application>Microsoft Office PowerPoint</Application>
  <PresentationFormat>Breitbild</PresentationFormat>
  <Paragraphs>56</Paragraphs>
  <Slides>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Adobe Gothic Std B</vt:lpstr>
      <vt:lpstr>Arial</vt:lpstr>
      <vt:lpstr>Calibri</vt:lpstr>
      <vt:lpstr>Wingdings</vt:lpstr>
      <vt:lpstr>Larissa</vt:lpstr>
      <vt:lpstr>PowerPoint-Präsentation</vt:lpstr>
      <vt:lpstr>Partner/Aufgabenstellung</vt:lpstr>
      <vt:lpstr>Ziele</vt:lpstr>
      <vt:lpstr>Literatur</vt:lpstr>
      <vt:lpstr>PM</vt:lpstr>
      <vt:lpstr>PM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alexandra</dc:creator>
  <cp:lastModifiedBy>Andre Karner</cp:lastModifiedBy>
  <cp:revision>389</cp:revision>
  <cp:lastPrinted>2020-04-02T17:36:48Z</cp:lastPrinted>
  <dcterms:created xsi:type="dcterms:W3CDTF">2012-09-14T17:11:23Z</dcterms:created>
  <dcterms:modified xsi:type="dcterms:W3CDTF">2025-06-18T12:47:48Z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0x010100B5F8F8BE0F772449AA3E28E2051A517F</vt:lpwstr>
  </property>
</Properties>
</file>